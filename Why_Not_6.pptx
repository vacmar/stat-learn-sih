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03" d="100"/>
          <a:sy n="103" d="100"/>
        </p:scale>
        <p:origin x="1440" y="5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ssta.gov.in" TargetMode="External"/><Relationship Id="rId4" Type="http://schemas.openxmlformats.org/officeDocument/2006/relationships/hyperlink" Target="https://www.mospi.gov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930510"/>
            <a:ext cx="8565232" cy="56775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ＭＳ Ｐゴシック"/>
                <a:cs typeface="Times New Roman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68" y="1776936"/>
            <a:ext cx="6448699" cy="4549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Problem Statement ID – </a:t>
            </a:r>
            <a:r>
              <a:rPr lang="en-US" sz="1400" dirty="0">
                <a:solidFill>
                  <a:srgbClr val="212529"/>
                </a:solidFill>
                <a:latin typeface="Arial"/>
                <a:ea typeface="Calibri"/>
                <a:cs typeface="Arial"/>
              </a:rPr>
              <a:t>SIH26101</a:t>
            </a:r>
            <a:endParaRPr lang="en-US" sz="140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Problem Statement Title – </a:t>
            </a:r>
            <a:r>
              <a:rPr lang="en-US" sz="1400" dirty="0">
                <a:latin typeface="Arial"/>
                <a:ea typeface="Calibri"/>
                <a:cs typeface="Arial"/>
              </a:rPr>
              <a:t>Develop an AI enabled learning platform that identifies competency gaps, recommends personalized training through integration with the </a:t>
            </a:r>
            <a:r>
              <a:rPr lang="en-US" sz="1400" dirty="0" err="1">
                <a:latin typeface="Arial"/>
                <a:ea typeface="Calibri"/>
                <a:cs typeface="Arial"/>
              </a:rPr>
              <a:t>iGOT</a:t>
            </a:r>
            <a:r>
              <a:rPr lang="en-US" sz="1400" dirty="0">
                <a:latin typeface="Arial"/>
                <a:ea typeface="Calibri"/>
                <a:cs typeface="Arial"/>
              </a:rPr>
              <a:t> </a:t>
            </a:r>
            <a:r>
              <a:rPr lang="en-US" sz="1400" dirty="0" err="1">
                <a:latin typeface="Arial"/>
                <a:ea typeface="Calibri"/>
                <a:cs typeface="Arial"/>
              </a:rPr>
              <a:t>Karmayogi</a:t>
            </a:r>
            <a:r>
              <a:rPr lang="en-US" sz="1400" dirty="0">
                <a:latin typeface="Arial"/>
                <a:ea typeface="Calibri"/>
                <a:cs typeface="Arial"/>
              </a:rPr>
              <a:t> ecosystem, and capable of generating Quizzes and Multiple choice questions (MCQs) from uploaded learning materials to strengthen capacity building in India's Official Statistical System.</a:t>
            </a:r>
            <a:endParaRPr lang="en-US" sz="1400" b="1" dirty="0">
              <a:latin typeface="Arial"/>
              <a:ea typeface="Calibri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Theme – </a:t>
            </a:r>
            <a:r>
              <a:rPr lang="en-US" sz="1400" dirty="0">
                <a:latin typeface="Arial"/>
                <a:ea typeface="Calibri"/>
                <a:cs typeface="Arial"/>
              </a:rPr>
              <a:t>Smart Education</a:t>
            </a:r>
            <a:endParaRPr lang="en-US" sz="1400" dirty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PS Category – 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Team ID – 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176881</a:t>
            </a:r>
            <a:endParaRPr lang="en-US" sz="1400" dirty="0">
              <a:latin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Team Name – 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Why Not 6</a:t>
            </a:r>
            <a:endParaRPr lang="en-IN" sz="1400" b="1" dirty="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300827"/>
            <a:ext cx="2249850" cy="1062337"/>
          </a:xfrm>
          <a:prstGeom prst="rect">
            <a:avLst/>
          </a:prstGeom>
        </p:spPr>
      </p:pic>
      <p:pic>
        <p:nvPicPr>
          <p:cNvPr id="1026" name="Picture 2" descr="Velammal Engineering College - Surapet | Chenna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51" y="16427"/>
            <a:ext cx="1533266" cy="15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-1044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6376" y="7218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ea typeface="Calibri"/>
                <a:cs typeface="Calibri"/>
              </a:rPr>
              <a:t>Why Not 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924666"/>
          </a:xfrm>
          <a:prstGeom prst="rect">
            <a:avLst/>
          </a:prstGeom>
        </p:spPr>
      </p:pic>
      <p:sp>
        <p:nvSpPr>
          <p:cNvPr id="3" name="Rectangles 11">
            <a:extLst>
              <a:ext uri="{FF2B5EF4-FFF2-40B4-BE49-F238E27FC236}">
                <a16:creationId xmlns:a16="http://schemas.microsoft.com/office/drawing/2014/main" id="{3B36BD49-8037-F1CB-47A5-37AF0CFF6C22}"/>
              </a:ext>
            </a:extLst>
          </p:cNvPr>
          <p:cNvSpPr/>
          <p:nvPr/>
        </p:nvSpPr>
        <p:spPr>
          <a:xfrm>
            <a:off x="216120" y="970482"/>
            <a:ext cx="5905565" cy="226327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31392-DE77-7D65-BB15-1030E1CCF812}"/>
              </a:ext>
            </a:extLst>
          </p:cNvPr>
          <p:cNvSpPr txBox="1"/>
          <p:nvPr/>
        </p:nvSpPr>
        <p:spPr>
          <a:xfrm>
            <a:off x="1785350" y="1082904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CONTEXT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56241E-E411-FFE3-B114-413C53106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628" y="1467290"/>
            <a:ext cx="5748213" cy="167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Officials need continuous upskilling, but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no intelligent system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matches </a:t>
            </a:r>
            <a:r>
              <a:rPr lang="en-US" sz="1600" dirty="0" err="1">
                <a:latin typeface="+mj-lt"/>
                <a:cs typeface="Arial" panose="020B0604020202020204" pitchFamily="34" charset="0"/>
              </a:rPr>
              <a:t>iGOT's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vast course repository to their actual role, competency level, or skill gaps.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Traditional training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lacks personalization, gap-diagnosis, and auto-generated assessment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s, no way to turn existing materials into targeted MCQs at scale.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Rectangles 11">
            <a:extLst>
              <a:ext uri="{FF2B5EF4-FFF2-40B4-BE49-F238E27FC236}">
                <a16:creationId xmlns:a16="http://schemas.microsoft.com/office/drawing/2014/main" id="{62301BDF-9574-46CE-99F4-34C60D79E4AF}"/>
              </a:ext>
            </a:extLst>
          </p:cNvPr>
          <p:cNvSpPr/>
          <p:nvPr/>
        </p:nvSpPr>
        <p:spPr>
          <a:xfrm>
            <a:off x="216120" y="3371171"/>
            <a:ext cx="5905565" cy="293840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46B6F-CC48-84CE-CD3E-574DBA5833C0}"/>
              </a:ext>
            </a:extLst>
          </p:cNvPr>
          <p:cNvSpPr txBox="1"/>
          <p:nvPr/>
        </p:nvSpPr>
        <p:spPr>
          <a:xfrm>
            <a:off x="956341" y="3383579"/>
            <a:ext cx="442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UNIQUE VALUE PROPOSITIONS (UVP)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C2E28EF6-02C8-03BA-BF77-DA9691219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805" y="3830915"/>
            <a:ext cx="587988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+mn-lt"/>
                <a:cs typeface="Arial" panose="020B0604020202020204" pitchFamily="34" charset="0"/>
              </a:rPr>
              <a:t>Explainable gap engine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: rule-based scoring, every recommendation traced to the exact wrong answer or missing competency, not a black-box LLM decision.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+mn-lt"/>
                <a:cs typeface="Arial" panose="020B0604020202020204" pitchFamily="34" charset="0"/>
              </a:rPr>
              <a:t>Grounded MCQ generation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: RAG pulls from uploaded material with source citations, human admin approval before publish.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+mn-lt"/>
                <a:cs typeface="Arial" panose="020B0604020202020204" pitchFamily="34" charset="0"/>
              </a:rPr>
              <a:t>Single pathway across </a:t>
            </a:r>
            <a:r>
              <a:rPr lang="en-US" sz="1500" b="1" dirty="0" err="1">
                <a:latin typeface="+mn-lt"/>
                <a:cs typeface="Arial" panose="020B0604020202020204" pitchFamily="34" charset="0"/>
              </a:rPr>
              <a:t>iGOT</a:t>
            </a:r>
            <a:r>
              <a:rPr lang="en-US" sz="1500" b="1" dirty="0">
                <a:latin typeface="+mn-lt"/>
                <a:cs typeface="Arial" panose="020B0604020202020204" pitchFamily="34" charset="0"/>
              </a:rPr>
              <a:t> + NSSTA/TPAC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: ranks and blends both catalogues by role, level, and prerequisites, no manual course hunting.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+mn-lt"/>
                <a:cs typeface="Arial" panose="020B0604020202020204" pitchFamily="34" charset="0"/>
              </a:rPr>
              <a:t>India-first sovereign AI stack</a:t>
            </a:r>
            <a:r>
              <a:rPr lang="en-US" sz="1500" dirty="0">
                <a:latin typeface="+mn-lt"/>
                <a:cs typeface="Arial" panose="020B0604020202020204" pitchFamily="34" charset="0"/>
              </a:rPr>
              <a:t>: Sarvam-105B/30B on-prem, GPT only as fallback.</a:t>
            </a:r>
          </a:p>
        </p:txBody>
      </p:sp>
      <p:sp>
        <p:nvSpPr>
          <p:cNvPr id="14" name="Rectangles 11">
            <a:extLst>
              <a:ext uri="{FF2B5EF4-FFF2-40B4-BE49-F238E27FC236}">
                <a16:creationId xmlns:a16="http://schemas.microsoft.com/office/drawing/2014/main" id="{99AC7A6D-C837-6AE6-D94F-0B74C1EA9FB0}"/>
              </a:ext>
            </a:extLst>
          </p:cNvPr>
          <p:cNvSpPr/>
          <p:nvPr/>
        </p:nvSpPr>
        <p:spPr>
          <a:xfrm>
            <a:off x="6265886" y="970482"/>
            <a:ext cx="5764050" cy="5359031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898B5-668F-E554-8EC2-AB133FAF93E8}"/>
              </a:ext>
            </a:extLst>
          </p:cNvPr>
          <p:cNvSpPr txBox="1"/>
          <p:nvPr/>
        </p:nvSpPr>
        <p:spPr>
          <a:xfrm>
            <a:off x="7400378" y="1082904"/>
            <a:ext cx="349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IDEA / PROPOSED SOLUTION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7D9E5F0-15ED-0692-9A64-2DAF27348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81" y="1687900"/>
            <a:ext cx="5614459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Our solution builds an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AI-enabled Skill Intelligence Platform 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that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profiles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officials, diagnoses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competency gaps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, and routes them through a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personalized, explainable learning pathway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across India's official training ecosystems.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Role → FRAC-aligned competency profiling (STAT/TECH/GOV/BEH, L1–L5) with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diagnostic MCQ assessment.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  <a:cs typeface="Arial" panose="020B0604020202020204" pitchFamily="34" charset="0"/>
              </a:rPr>
              <a:t>Deterministic gap engine: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rule-based scoring, explainable "why this gap" reasoning per competency.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Dual-catalogue pathway blending </a:t>
            </a:r>
            <a:r>
              <a:rPr lang="en-US" sz="1600" b="1" dirty="0" err="1">
                <a:latin typeface="+mj-lt"/>
                <a:cs typeface="Arial" panose="020B0604020202020204" pitchFamily="34" charset="0"/>
              </a:rPr>
              <a:t>iGOT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 courses + NSSTA/TPAC </a:t>
            </a:r>
            <a:r>
              <a:rPr lang="en-US" sz="1600" b="1" dirty="0" err="1">
                <a:latin typeface="+mj-lt"/>
                <a:cs typeface="Arial" panose="020B0604020202020204" pitchFamily="34" charset="0"/>
              </a:rPr>
              <a:t>programmes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, ranked by role and prerequisites.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  <a:cs typeface="Arial" panose="020B0604020202020204" pitchFamily="34" charset="0"/>
              </a:rPr>
              <a:t>AI MCQ generation: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upload PDF/PPT/video → RAG-grounded quiz creation → admin review → publish.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Adaptive 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assessment difficulty + competency decay 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modeling, flags refresher needs before gaps widen.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  <a:cs typeface="Arial" panose="020B0604020202020204" pitchFamily="34" charset="0"/>
              </a:rPr>
              <a:t>Multilingual layer via </a:t>
            </a:r>
            <a:r>
              <a:rPr lang="en-US" sz="1600" b="1" dirty="0" err="1">
                <a:latin typeface="+mj-lt"/>
                <a:cs typeface="Arial" panose="020B0604020202020204" pitchFamily="34" charset="0"/>
              </a:rPr>
              <a:t>Bhashini</a:t>
            </a:r>
            <a:r>
              <a:rPr lang="en-US" sz="16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(regional-language MCQs/explanations, UI stays English).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65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957942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5F5C2BC5-72C6-2BEC-C7E3-7939BE3388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9806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ea typeface="Calibri"/>
                <a:cs typeface="Calibri"/>
              </a:rPr>
              <a:t>Why Not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72237-0043-4A2C-3040-3EFFCD709167}"/>
              </a:ext>
            </a:extLst>
          </p:cNvPr>
          <p:cNvSpPr txBox="1"/>
          <p:nvPr/>
        </p:nvSpPr>
        <p:spPr>
          <a:xfrm>
            <a:off x="2625287" y="1080198"/>
            <a:ext cx="1937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Arial" pitchFamily="34" charset="0"/>
              </a:rPr>
              <a:t>FLOW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EFA9B-E59A-3D10-63E5-BCF882E8DE38}"/>
              </a:ext>
            </a:extLst>
          </p:cNvPr>
          <p:cNvSpPr txBox="1"/>
          <p:nvPr/>
        </p:nvSpPr>
        <p:spPr>
          <a:xfrm>
            <a:off x="8381324" y="1052282"/>
            <a:ext cx="2355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Arial" pitchFamily="34" charset="0"/>
              </a:rPr>
              <a:t>TECHNOLOGY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1612A-FA17-445E-1C7D-53FD9F86341B}"/>
              </a:ext>
            </a:extLst>
          </p:cNvPr>
          <p:cNvSpPr txBox="1"/>
          <p:nvPr/>
        </p:nvSpPr>
        <p:spPr>
          <a:xfrm>
            <a:off x="7376412" y="1373470"/>
            <a:ext cx="47580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Frontend (User Interface)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Next.js +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Tailwind + </a:t>
            </a:r>
            <a:r>
              <a:rPr lang="en-IN" b="1" dirty="0" err="1"/>
              <a:t>shadcn</a:t>
            </a:r>
            <a:r>
              <a:rPr lang="en-IN" b="1" dirty="0"/>
              <a:t>/</a:t>
            </a:r>
            <a:r>
              <a:rPr lang="en-IN" b="1" dirty="0" err="1"/>
              <a:t>ui</a:t>
            </a:r>
            <a:endParaRPr lang="en-IN" b="1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Backend /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FastAPI</a:t>
            </a:r>
            <a:r>
              <a:rPr lang="en-US" dirty="0"/>
              <a:t> (Python)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LangGraph</a:t>
            </a:r>
            <a:r>
              <a:rPr lang="en-US" dirty="0"/>
              <a:t> (agent/workflow orchestration)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Data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PostgreSQL + </a:t>
            </a:r>
            <a:r>
              <a:rPr lang="en-US" b="1" dirty="0" err="1"/>
              <a:t>pgvector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Redis</a:t>
            </a:r>
            <a:r>
              <a:rPr lang="en-US" dirty="0"/>
              <a:t> (cache/queue)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S3/</a:t>
            </a:r>
            <a:r>
              <a:rPr lang="en-US" b="1" dirty="0" err="1"/>
              <a:t>MinIO</a:t>
            </a:r>
            <a:r>
              <a:rPr lang="en-US" b="1" dirty="0"/>
              <a:t> </a:t>
            </a:r>
            <a:r>
              <a:rPr lang="en-US" dirty="0"/>
              <a:t>(object storage)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AI / Sovereign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Sarvam-105B/30B </a:t>
            </a:r>
            <a:r>
              <a:rPr lang="en-US" dirty="0"/>
              <a:t>(local 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multilingual-e5-large</a:t>
            </a:r>
            <a:r>
              <a:rPr lang="en-US" dirty="0"/>
              <a:t> (embeddings)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Bhashini</a:t>
            </a:r>
            <a:r>
              <a:rPr lang="en-US" dirty="0"/>
              <a:t> (regional-language layer)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Auth &amp;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JWT + OIDC</a:t>
            </a:r>
            <a:r>
              <a:rPr lang="en-US" dirty="0"/>
              <a:t> (Parichay/</a:t>
            </a:r>
            <a:r>
              <a:rPr lang="en-US" dirty="0" err="1"/>
              <a:t>Keycloak</a:t>
            </a:r>
            <a:r>
              <a:rPr lang="en-US" dirty="0"/>
              <a:t>-compatible)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iGOT</a:t>
            </a:r>
            <a:r>
              <a:rPr lang="en-US" b="1" dirty="0"/>
              <a:t>/NSSTA adapters </a:t>
            </a:r>
            <a:r>
              <a:rPr lang="en-US" dirty="0"/>
              <a:t>(mock now, live-ready)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s 11">
            <a:extLst>
              <a:ext uri="{FF2B5EF4-FFF2-40B4-BE49-F238E27FC236}">
                <a16:creationId xmlns:a16="http://schemas.microsoft.com/office/drawing/2014/main" id="{8295287D-672D-283E-95A6-B69910E47C6A}"/>
              </a:ext>
            </a:extLst>
          </p:cNvPr>
          <p:cNvSpPr/>
          <p:nvPr/>
        </p:nvSpPr>
        <p:spPr>
          <a:xfrm>
            <a:off x="7271931" y="1029768"/>
            <a:ext cx="4758004" cy="5188472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s 11">
            <a:extLst>
              <a:ext uri="{FF2B5EF4-FFF2-40B4-BE49-F238E27FC236}">
                <a16:creationId xmlns:a16="http://schemas.microsoft.com/office/drawing/2014/main" id="{1C288BC0-D3D0-1659-B42C-B481AE0C22F6}"/>
              </a:ext>
            </a:extLst>
          </p:cNvPr>
          <p:cNvSpPr/>
          <p:nvPr/>
        </p:nvSpPr>
        <p:spPr>
          <a:xfrm>
            <a:off x="185305" y="1029768"/>
            <a:ext cx="6982146" cy="5188472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42BED8-2DBA-60F5-A25F-DADFE0611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46" y="1372955"/>
            <a:ext cx="6909014" cy="4817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523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E02650D-EC8C-4298-7713-50F916EC6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7446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ea typeface="Calibri"/>
                <a:cs typeface="Calibri"/>
              </a:rPr>
              <a:t>Why Not 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4FB62D-2466-B258-C2EF-982CD0685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427368"/>
              </p:ext>
            </p:extLst>
          </p:nvPr>
        </p:nvGraphicFramePr>
        <p:xfrm>
          <a:off x="392981" y="1126226"/>
          <a:ext cx="11408397" cy="30288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2799">
                  <a:extLst>
                    <a:ext uri="{9D8B030D-6E8A-4147-A177-3AD203B41FA5}">
                      <a16:colId xmlns:a16="http://schemas.microsoft.com/office/drawing/2014/main" val="3101682573"/>
                    </a:ext>
                  </a:extLst>
                </a:gridCol>
                <a:gridCol w="3802799">
                  <a:extLst>
                    <a:ext uri="{9D8B030D-6E8A-4147-A177-3AD203B41FA5}">
                      <a16:colId xmlns:a16="http://schemas.microsoft.com/office/drawing/2014/main" val="4223376338"/>
                    </a:ext>
                  </a:extLst>
                </a:gridCol>
                <a:gridCol w="3802799">
                  <a:extLst>
                    <a:ext uri="{9D8B030D-6E8A-4147-A177-3AD203B41FA5}">
                      <a16:colId xmlns:a16="http://schemas.microsoft.com/office/drawing/2014/main" val="442358855"/>
                    </a:ext>
                  </a:extLst>
                </a:gridCol>
              </a:tblGrid>
              <a:tr h="40256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Feasibility </a:t>
                      </a:r>
                      <a:endParaRPr lang="en-US" sz="1400" b="1">
                        <a:latin typeface="Arial"/>
                        <a:cs typeface="Arial"/>
                      </a:endParaRPr>
                    </a:p>
                  </a:txBody>
                  <a:tcPr marL="90868" marR="90868" marT="45434" marB="45434" anchor="ctr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Managed Constraints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marL="90868" marR="90868" marT="45434" marB="45434" anchor="ctr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Mitigation</a:t>
                      </a:r>
                      <a:endParaRPr lang="en-US" sz="1400" b="1">
                        <a:latin typeface="Arial"/>
                        <a:cs typeface="Arial"/>
                      </a:endParaRPr>
                    </a:p>
                  </a:txBody>
                  <a:tcPr marL="90868" marR="90868" marT="45434" marB="45434" anchor="ctr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73082"/>
                  </a:ext>
                </a:extLst>
              </a:tr>
              <a:tr h="2626262"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Software-only, deployable as secure web app — no hardware dependency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Covers all 6 PS musts: assessment, gap analysis, </a:t>
                      </a:r>
                      <a:r>
                        <a:rPr lang="en-US" sz="1200" dirty="0" err="1"/>
                        <a:t>iGOT+NSSTA</a:t>
                      </a:r>
                      <a:r>
                        <a:rPr lang="en-US" sz="1200" dirty="0"/>
                        <a:t> recs, MCQ gen, learner + admin dashboards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Proven stack: Next.js, FastAPI, PostgreSQL, Redis, Docker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Sovereign AI: Sarvam-105B/30B local, GPT fallback only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Adapter design: mock catalogue now, live </a:t>
                      </a:r>
                      <a:r>
                        <a:rPr lang="en-US" sz="1200" dirty="0" err="1"/>
                        <a:t>iGOT</a:t>
                      </a:r>
                      <a:r>
                        <a:rPr lang="en-US" sz="1200" dirty="0"/>
                        <a:t>/NSSTA API swap later, zero core rewrite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Every AI-generated MCQ passes human admin gate before publish</a:t>
                      </a:r>
                    </a:p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/>
                    </a:p>
                  </a:txBody>
                  <a:tcPr marL="90868" marR="90868" marT="45434" marB="45434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 public </a:t>
                      </a:r>
                      <a:r>
                        <a:rPr lang="en-US" sz="1200" dirty="0" err="1"/>
                        <a:t>iGOT</a:t>
                      </a:r>
                      <a:r>
                        <a:rPr lang="en-US" sz="1200" dirty="0"/>
                        <a:t> write/enrolment API yet — access requires </a:t>
                      </a:r>
                      <a:r>
                        <a:rPr lang="en-US" sz="1200" dirty="0" err="1"/>
                        <a:t>MoSPI</a:t>
                      </a:r>
                      <a:r>
                        <a:rPr lang="en-US" sz="1200" dirty="0"/>
                        <a:t> authorization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LLM latency/quality varies under load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Gap scoring must be trustworthy for govt use, not black-box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Uploaded govt material needs content-safety checks before MCQ publish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Govt data needs strict access control + audit trail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/>
                        <a:t>iGOT</a:t>
                      </a:r>
                      <a:r>
                        <a:rPr lang="en-US" sz="1200" dirty="0"/>
                        <a:t> + NSSTA/TPAC are separate catalogues, no native single pathway exists today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 marL="90868" marR="90868" marT="45434" marB="45434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Adapter pattern: curated catalogue works now, live API plugs in later, no rewrite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3-tier LLM fallback: local </a:t>
                      </a:r>
                      <a:r>
                        <a:rPr lang="en-US" sz="1200" dirty="0" err="1"/>
                        <a:t>Sarvam</a:t>
                      </a:r>
                      <a:r>
                        <a:rPr lang="en-US" sz="1200" dirty="0"/>
                        <a:t> → cached snapshot → curated bank, zero hard-fail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100% deterministic gap scoring (rule-based), explainable reason on every recommendation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RAG source citations + schema validation + mandatory admin approval before any MCQ goes live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RBAC + append-only audit log + OIDC/Parichay-ready SSO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One blended pathway ranks both catalogues together, source-tagged per course</a:t>
                      </a:r>
                    </a:p>
                    <a:p>
                      <a:pPr marL="171450" lvl="0" indent="-1714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 marL="90868" marR="90868" marT="45434" marB="45434">
                    <a:lnL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52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238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211B1FF-B8E8-FFEA-FA26-4AA5BA0D21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ea typeface="Calibri"/>
                <a:cs typeface="Calibri"/>
              </a:rPr>
              <a:t>Why Not 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06C17F-5890-D428-F7A2-D860F8801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270033"/>
              </p:ext>
            </p:extLst>
          </p:nvPr>
        </p:nvGraphicFramePr>
        <p:xfrm>
          <a:off x="757595" y="1528403"/>
          <a:ext cx="10987554" cy="3115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93777">
                  <a:extLst>
                    <a:ext uri="{9D8B030D-6E8A-4147-A177-3AD203B41FA5}">
                      <a16:colId xmlns:a16="http://schemas.microsoft.com/office/drawing/2014/main" val="3644504821"/>
                    </a:ext>
                  </a:extLst>
                </a:gridCol>
                <a:gridCol w="5493777">
                  <a:extLst>
                    <a:ext uri="{9D8B030D-6E8A-4147-A177-3AD203B41FA5}">
                      <a16:colId xmlns:a16="http://schemas.microsoft.com/office/drawing/2014/main" val="1318993675"/>
                    </a:ext>
                  </a:extLst>
                </a:gridCol>
              </a:tblGrid>
              <a:tr h="594264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Arial"/>
                          <a:cs typeface="Arial"/>
                        </a:rPr>
                        <a:t>Impact on Target Audience</a:t>
                      </a:r>
                      <a:endParaRPr lang="en-US" sz="1400" b="1">
                        <a:latin typeface="Arial"/>
                        <a:cs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Arial"/>
                          <a:cs typeface="Arial"/>
                        </a:rPr>
                        <a:t>Benefits</a:t>
                      </a:r>
                      <a:endParaRPr lang="en-US" sz="1400" b="1">
                        <a:latin typeface="Arial"/>
                        <a:cs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29087"/>
                  </a:ext>
                </a:extLst>
              </a:tr>
              <a:tr h="2520830"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Statistical Officers / OSS staff:</a:t>
                      </a:r>
                      <a:r>
                        <a:rPr lang="en-US" sz="1400" b="0" i="0" u="none" strike="noStrike" noProof="0" dirty="0"/>
                        <a:t> clear gaps + personalized pathways</a:t>
                      </a:r>
                      <a:endParaRPr lang="en-US" dirty="0"/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Training Admins / NSSTA:</a:t>
                      </a:r>
                      <a:r>
                        <a:rPr lang="en-US" sz="1400" b="0" i="0" u="none" strike="noStrike" noProof="0" dirty="0"/>
                        <a:t> MCQ banks from approved materials (governed)</a:t>
                      </a: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Supervisors / DIID:</a:t>
                      </a:r>
                      <a:r>
                        <a:rPr lang="en-US" sz="1400" b="0" i="0" u="none" strike="noStrike" noProof="0" dirty="0"/>
                        <a:t> cohort competency heatmaps for planning</a:t>
                      </a: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 err="1"/>
                        <a:t>MoSPI</a:t>
                      </a:r>
                      <a:r>
                        <a:rPr lang="en-US" sz="1400" b="1" i="0" u="none" strike="noStrike" noProof="0" dirty="0"/>
                        <a:t> leadership:</a:t>
                      </a:r>
                      <a:r>
                        <a:rPr lang="en-US" sz="1400" b="0" i="0" u="none" strike="noStrike" noProof="0" dirty="0"/>
                        <a:t> measurable role → training → proficiency loop</a:t>
                      </a:r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en-US" sz="1400" b="1" i="0" u="none" strike="noStrike" noProof="0" dirty="0" err="1"/>
                        <a:t>iGOT</a:t>
                      </a:r>
                      <a:r>
                        <a:rPr lang="en-US" sz="1400" b="1" i="0" u="none" strike="noStrike" noProof="0" dirty="0"/>
                        <a:t> &amp; NSSTA:</a:t>
                      </a:r>
                      <a:r>
                        <a:rPr lang="en-US" sz="1400" b="0" i="0" u="none" strike="noStrike" noProof="0" dirty="0"/>
                        <a:t> better use of existing courses (complement, not replace)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Social:</a:t>
                      </a:r>
                      <a:r>
                        <a:rPr lang="en-US" sz="1400" b="0" i="0" u="none" strike="noStrike" noProof="0" dirty="0"/>
                        <a:t> inclusive cadre upskilling; Hindi UI toggle</a:t>
                      </a:r>
                      <a:endParaRPr lang="en-US" dirty="0"/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Economic:</a:t>
                      </a:r>
                      <a:r>
                        <a:rPr lang="en-US" sz="1400" b="0" i="0" u="none" strike="noStrike" noProof="0" dirty="0"/>
                        <a:t> less mismatched training; reuse </a:t>
                      </a:r>
                      <a:r>
                        <a:rPr lang="en-US" sz="1400" b="0" i="0" u="none" strike="noStrike" noProof="0" dirty="0" err="1"/>
                        <a:t>MoSPI</a:t>
                      </a:r>
                      <a:r>
                        <a:rPr lang="en-US" sz="1400" b="0" i="0" u="none" strike="noStrike" noProof="0" dirty="0"/>
                        <a:t> materials as assessments</a:t>
                      </a:r>
                      <a:endParaRPr lang="en-US" dirty="0"/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Institutional:</a:t>
                      </a:r>
                      <a:r>
                        <a:rPr lang="en-US" sz="1400" b="0" i="0" u="none" strike="noStrike" noProof="0" dirty="0"/>
                        <a:t> FRAC-aligned competency culture in Official Statistical System</a:t>
                      </a:r>
                      <a:endParaRPr lang="en-US" dirty="0"/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Digital public good:</a:t>
                      </a:r>
                      <a:r>
                        <a:rPr lang="en-US" sz="1400" b="0" i="0" u="none" strike="noStrike" noProof="0" dirty="0"/>
                        <a:t> plugs into </a:t>
                      </a:r>
                      <a:r>
                        <a:rPr lang="en-US" sz="1400" b="0" i="0" u="none" strike="noStrike" noProof="0" dirty="0" err="1"/>
                        <a:t>iGOT</a:t>
                      </a:r>
                      <a:r>
                        <a:rPr lang="en-US" sz="1400" b="0" i="0" u="none" strike="noStrike" noProof="0" dirty="0"/>
                        <a:t> + NSSTA/TPAC (not a siloed LMS)</a:t>
                      </a:r>
                      <a:endParaRPr lang="en-US" dirty="0"/>
                    </a:p>
                    <a:p>
                      <a:pPr marL="285750" lvl="0" indent="-285750" algn="just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en-US" sz="1400" b="1" i="0" u="none" strike="noStrike" noProof="0" dirty="0"/>
                        <a:t>Trust:</a:t>
                      </a:r>
                      <a:r>
                        <a:rPr lang="en-US" sz="1400" b="0" i="0" u="none" strike="noStrike" noProof="0" dirty="0"/>
                        <a:t> explainable scores, RBAC/audit, hybrid sovereign LLM option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08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57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6036E96-5FBA-188E-14D3-AC9A8F4484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ea typeface="Calibri"/>
                <a:cs typeface="Calibri"/>
              </a:rPr>
              <a:t>Why Not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EABDA-F2A5-AEDA-6F1B-0F01971467E7}"/>
              </a:ext>
            </a:extLst>
          </p:cNvPr>
          <p:cNvSpPr txBox="1"/>
          <p:nvPr/>
        </p:nvSpPr>
        <p:spPr>
          <a:xfrm>
            <a:off x="1435908" y="1614295"/>
            <a:ext cx="802963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SIH 2026 Problem Statement 26101 -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MoSPI</a:t>
            </a:r>
            <a:r>
              <a:rPr lang="en-US" dirty="0">
                <a:latin typeface="Calibri"/>
                <a:ea typeface="ＭＳ Ｐゴシック"/>
                <a:cs typeface="Calibri"/>
              </a:rPr>
              <a:t> DIID | Theme: Smart Education</a:t>
            </a:r>
            <a:endParaRPr lang="en-US" dirty="0">
              <a:cs typeface="Calibri" pitchFamily="34" charset="0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 err="1">
                <a:latin typeface="Calibri"/>
                <a:ea typeface="ＭＳ Ｐゴシック"/>
                <a:cs typeface="Calibri"/>
              </a:rPr>
              <a:t>MoSPI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</a:t>
            </a:r>
            <a:r>
              <a:rPr lang="en-US" dirty="0">
                <a:latin typeface="Calibri"/>
                <a:ea typeface="ＭＳ Ｐゴシック"/>
                <a:cs typeface="Calibri"/>
                <a:hlinkClick r:id="rId4"/>
              </a:rPr>
              <a:t>https://www.mospi.gov.in</a:t>
            </a:r>
            <a:endParaRPr lang="en-US" dirty="0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NSSTA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</a:t>
            </a:r>
            <a:r>
              <a:rPr lang="en-US" dirty="0">
                <a:latin typeface="Calibri"/>
                <a:ea typeface="ＭＳ Ｐゴシック"/>
                <a:cs typeface="Calibri"/>
                <a:hlinkClick r:id="rId5"/>
              </a:rPr>
              <a:t>https://www.nssta.gov.in</a:t>
            </a:r>
            <a:endParaRPr lang="en-US" dirty="0">
              <a:cs typeface="Calibri" pitchFamily="34" charset="0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 err="1">
                <a:latin typeface="Calibri"/>
                <a:ea typeface="ＭＳ Ｐゴシック"/>
                <a:cs typeface="Calibri"/>
              </a:rPr>
              <a:t>iGOT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 </a:t>
            </a:r>
            <a:r>
              <a:rPr lang="en-US" b="1" dirty="0" err="1">
                <a:latin typeface="Calibri"/>
                <a:ea typeface="ＭＳ Ｐゴシック"/>
                <a:cs typeface="Calibri"/>
              </a:rPr>
              <a:t>Karmayogi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 / Mission </a:t>
            </a:r>
            <a:r>
              <a:rPr lang="en-US" b="1" dirty="0" err="1">
                <a:latin typeface="Calibri"/>
                <a:ea typeface="ＭＳ Ｐゴシック"/>
                <a:cs typeface="Calibri"/>
              </a:rPr>
              <a:t>Karmayogi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government capacity-building ecosystem</a:t>
            </a:r>
            <a:endParaRPr lang="en-US" dirty="0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TPAC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NSSTA Training 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Programme</a:t>
            </a:r>
            <a:r>
              <a:rPr lang="en-US" dirty="0">
                <a:latin typeface="Calibri"/>
                <a:ea typeface="ＭＳ Ｐゴシック"/>
                <a:cs typeface="Calibri"/>
              </a:rPr>
              <a:t> Advisory Committee 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programmes</a:t>
            </a:r>
            <a:endParaRPr lang="en-US" dirty="0" err="1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FRAC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Framework of Roles, Activities and Competencies (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DoPT</a:t>
            </a:r>
            <a:r>
              <a:rPr lang="en-US" dirty="0">
                <a:latin typeface="Calibri"/>
                <a:ea typeface="ＭＳ Ｐゴシック"/>
                <a:cs typeface="Calibri"/>
              </a:rPr>
              <a:t> / 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Karmayogi</a:t>
            </a:r>
            <a:r>
              <a:rPr lang="en-US" dirty="0">
                <a:latin typeface="Calibri"/>
                <a:ea typeface="ＭＳ Ｐゴシック"/>
                <a:cs typeface="Calibri"/>
              </a:rPr>
              <a:t>)</a:t>
            </a:r>
            <a:endParaRPr lang="en-US" dirty="0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 err="1">
                <a:latin typeface="Calibri"/>
                <a:ea typeface="ＭＳ Ｐゴシック"/>
                <a:cs typeface="Calibri"/>
              </a:rPr>
              <a:t>MeitY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 cybersecurity expectations &amp; DPDP Act -</a:t>
            </a:r>
            <a:r>
              <a:rPr lang="en-US" dirty="0">
                <a:latin typeface="Calibri"/>
                <a:ea typeface="ＭＳ Ｐゴシック"/>
                <a:cs typeface="Calibri"/>
              </a:rPr>
              <a:t> design alignment for gov software</a:t>
            </a:r>
            <a:endParaRPr lang="en-US" dirty="0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Models: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Qwen3-8B · BGE-M3 · Hybrid LLM (local preferred + cloud fallback)</a:t>
            </a:r>
            <a:endParaRPr lang="en-US" dirty="0">
              <a:cs typeface="Calibri"/>
            </a:endParaRP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•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Demo seeds:</a:t>
            </a:r>
            <a:r>
              <a:rPr lang="en-US" dirty="0">
                <a:latin typeface="Calibri"/>
                <a:ea typeface="ＭＳ Ｐゴシック"/>
                <a:cs typeface="Calibri"/>
              </a:rPr>
              <a:t> synthetic catalogues/PDFs structured like public NSSTA/</a:t>
            </a:r>
            <a:r>
              <a:rPr lang="en-US" dirty="0" err="1">
                <a:latin typeface="Calibri"/>
                <a:ea typeface="ＭＳ Ｐゴシック"/>
                <a:cs typeface="Calibri"/>
              </a:rPr>
              <a:t>iGOT</a:t>
            </a:r>
            <a:r>
              <a:rPr lang="en-US" dirty="0">
                <a:latin typeface="Calibri"/>
                <a:ea typeface="ＭＳ Ｐゴシック"/>
                <a:cs typeface="Calibri"/>
              </a:rPr>
              <a:t> - not scraped copyrighted courses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997</Words>
  <Application>Microsoft Macintosh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VAAHEESAN S</cp:lastModifiedBy>
  <cp:revision>416</cp:revision>
  <dcterms:created xsi:type="dcterms:W3CDTF">2013-12-12T18:46:50Z</dcterms:created>
  <dcterms:modified xsi:type="dcterms:W3CDTF">2026-09-28T09:27:13Z</dcterms:modified>
  <cp:category/>
</cp:coreProperties>
</file>